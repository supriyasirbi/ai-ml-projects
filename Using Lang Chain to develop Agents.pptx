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6" r:id="rId4"/>
  </p:sldMasterIdLst>
  <p:notesMasterIdLst>
    <p:notesMasterId r:id="rId14"/>
  </p:notesMasterIdLst>
  <p:handoutMasterIdLst>
    <p:handoutMasterId r:id="rId15"/>
  </p:handoutMasterIdLst>
  <p:sldIdLst>
    <p:sldId id="332" r:id="rId5"/>
    <p:sldId id="336" r:id="rId6"/>
    <p:sldId id="338" r:id="rId7"/>
    <p:sldId id="339" r:id="rId8"/>
    <p:sldId id="350" r:id="rId9"/>
    <p:sldId id="348" r:id="rId10"/>
    <p:sldId id="349" r:id="rId11"/>
    <p:sldId id="345" r:id="rId12"/>
    <p:sldId id="34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083E6E3-FA7D-4D7B-A595-EF9225AFEA82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5388" autoAdjust="0"/>
  </p:normalViewPr>
  <p:slideViewPr>
    <p:cSldViewPr snapToGrid="0">
      <p:cViewPr varScale="1">
        <p:scale>
          <a:sx n="74" d="100"/>
          <a:sy n="74" d="100"/>
        </p:scale>
        <p:origin x="340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45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D8E7403-EB4A-4177-AFCE-6A9D7B160C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C49177-C030-4043-9380-EA6E4C94A1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C7415F-6970-4DE4-93F1-94FEF07D0F1C}" type="datetimeFigureOut">
              <a:rPr lang="en-US" smtClean="0"/>
              <a:t>3/13/2026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4C83CE-EC9B-40C4-BD7A-48797AE5B1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E9A75D-9B4E-4704-98C7-2A42472F118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CC6D6D-E986-427F-AD9C-4E9408DDBE5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774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86E6E5-5A19-4AE7-8D4E-049C5315C9A0}" type="datetimeFigureOut">
              <a:rPr lang="en-US" smtClean="0"/>
              <a:t>3/13/2026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5A580F-E35D-42E1-AF82-E41CC201EA9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680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8846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3893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358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8357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2BFFE-0A08-D251-E71E-F209C70A8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7D56B0-291C-04DB-271C-D7C530B7C3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49F70A-E0A9-9C23-156B-E0F2D202C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CF32C4-41F3-A49D-910B-51B35CBDCE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4959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05365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A3D29-7002-7F80-792C-AB895F00A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7B6EB9-87B8-51A3-AB7D-ACDFCB875A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BB7E76-7CC7-87FB-4182-81BFB42F34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D27016-B1BA-A0D8-C7DE-E816FB8CC4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241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21900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87319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28868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4962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804711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215405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09909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82419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75472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5330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21719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9AE8321-5884-9E75-1272-926961F313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908591"/>
            <a:ext cx="4058728" cy="5225507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22DF521-FA73-0B43-D1F3-A28543BA84E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699125" y="0"/>
            <a:ext cx="5786438" cy="61341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00E6515-DDBF-35F4-5C9E-FF113FD164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274074"/>
            <a:ext cx="672354" cy="58392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B32A424-7EFB-F80C-2BDA-94D103A55F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8EFEEF-ABDC-22C9-C5DB-0494BEB86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699342" y="6136928"/>
            <a:ext cx="57867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70001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0">
            <a:extLst>
              <a:ext uri="{FF2B5EF4-FFF2-40B4-BE49-F238E27FC236}">
                <a16:creationId xmlns:a16="http://schemas.microsoft.com/office/drawing/2014/main" id="{6DC3399C-8B0E-4D7D-A955-FB1F37CF36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0520" y="776873"/>
            <a:ext cx="5854182" cy="3070508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1" name="Subtitle 11">
            <a:extLst>
              <a:ext uri="{FF2B5EF4-FFF2-40B4-BE49-F238E27FC236}">
                <a16:creationId xmlns:a16="http://schemas.microsoft.com/office/drawing/2014/main" id="{13C3C1EB-2C5B-4710-893A-9DD6284D5CB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202" y="4088927"/>
            <a:ext cx="5842218" cy="18805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30" name="Picture Placeholder 28">
            <a:extLst>
              <a:ext uri="{FF2B5EF4-FFF2-40B4-BE49-F238E27FC236}">
                <a16:creationId xmlns:a16="http://schemas.microsoft.com/office/drawing/2014/main" id="{E335E712-C7FD-4BAC-B89C-58AF6594A4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00" y="0"/>
            <a:ext cx="4876800" cy="685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541CC69-A0B0-C1BE-2165-D8AD1B7D2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4574" y="723899"/>
            <a:ext cx="57867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D54A957-6A3F-2C34-A453-905FBAE77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4574" y="6136928"/>
            <a:ext cx="57867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9181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9AE8321-5884-9E75-1272-926961F313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439" y="684311"/>
            <a:ext cx="4058728" cy="2749009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EB8AC8C-DEDA-D180-1CD8-B67B47276E3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57600" y="3662835"/>
            <a:ext cx="4064567" cy="2468396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22DF521-FA73-0B43-D1F3-A28543BA84E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707756" y="4"/>
            <a:ext cx="5786438" cy="61341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insert picture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D527B4D-405A-DCD2-6970-1162843E0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14484" y="721031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00E6515-DDBF-35F4-5C9E-FF113FD164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274074"/>
            <a:ext cx="672354" cy="58392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3B79298-0F84-5214-4916-E9C0B4B46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699342" y="6136928"/>
            <a:ext cx="57867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74750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4246B94A-8C64-4FBA-B409-1F9487E19C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4591" y="976997"/>
            <a:ext cx="11000209" cy="118822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736CFB-FEC9-D3FB-01C8-D0AF64ED3AE0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34593" y="2244725"/>
            <a:ext cx="5045105" cy="4233713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1800"/>
            </a:lvl1pPr>
            <a:lvl2pPr>
              <a:spcBef>
                <a:spcPts val="0"/>
              </a:spcBef>
              <a:spcAft>
                <a:spcPts val="1200"/>
              </a:spcAft>
              <a:defRPr sz="1600"/>
            </a:lvl2pPr>
            <a:lvl3pPr>
              <a:spcBef>
                <a:spcPts val="0"/>
              </a:spcBef>
              <a:spcAft>
                <a:spcPts val="1200"/>
              </a:spcAft>
              <a:defRPr sz="1400"/>
            </a:lvl3pPr>
            <a:lvl4pPr>
              <a:spcBef>
                <a:spcPts val="0"/>
              </a:spcBef>
              <a:spcAft>
                <a:spcPts val="1200"/>
              </a:spcAft>
              <a:defRPr sz="1200"/>
            </a:lvl4pPr>
            <a:lvl5pPr>
              <a:spcBef>
                <a:spcPts val="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3AC3921-F10C-2A33-F8DF-3B42EE1E3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4574" y="723899"/>
            <a:ext cx="1101022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A4F2998B-5567-1A45-7720-4998CC19EF0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412304" y="2244724"/>
            <a:ext cx="5322496" cy="4233713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1800"/>
            </a:lvl1pPr>
            <a:lvl2pPr>
              <a:spcBef>
                <a:spcPts val="0"/>
              </a:spcBef>
              <a:spcAft>
                <a:spcPts val="1200"/>
              </a:spcAft>
              <a:defRPr sz="1600"/>
            </a:lvl2pPr>
            <a:lvl3pPr>
              <a:spcBef>
                <a:spcPts val="0"/>
              </a:spcBef>
              <a:spcAft>
                <a:spcPts val="1200"/>
              </a:spcAft>
              <a:defRPr sz="1400"/>
            </a:lvl3pPr>
            <a:lvl4pPr>
              <a:spcBef>
                <a:spcPts val="0"/>
              </a:spcBef>
              <a:spcAft>
                <a:spcPts val="1200"/>
              </a:spcAft>
              <a:defRPr sz="1200"/>
            </a:lvl4pPr>
            <a:lvl5pPr>
              <a:spcBef>
                <a:spcPts val="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57EDA23-301F-47EE-3683-0B3206D8F5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3517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0">
            <a:extLst>
              <a:ext uri="{FF2B5EF4-FFF2-40B4-BE49-F238E27FC236}">
                <a16:creationId xmlns:a16="http://schemas.microsoft.com/office/drawing/2014/main" id="{6DC3399C-8B0E-4D7D-A955-FB1F37CF36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46" y="983901"/>
            <a:ext cx="5724786" cy="119858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C6D5E5-DE84-EC37-75DB-50DB75B5CD4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10520" y="2244725"/>
            <a:ext cx="5724786" cy="3795683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/>
            </a:lvl1pPr>
            <a:lvl2pPr>
              <a:spcBef>
                <a:spcPts val="0"/>
              </a:spcBef>
              <a:spcAft>
                <a:spcPts val="1200"/>
              </a:spcAft>
              <a:defRPr/>
            </a:lvl2pPr>
            <a:lvl3pPr>
              <a:spcBef>
                <a:spcPts val="0"/>
              </a:spcBef>
              <a:spcAft>
                <a:spcPts val="1200"/>
              </a:spcAft>
              <a:defRPr/>
            </a:lvl3pPr>
            <a:lvl4pPr>
              <a:spcBef>
                <a:spcPts val="0"/>
              </a:spcBef>
              <a:spcAft>
                <a:spcPts val="1200"/>
              </a:spcAft>
              <a:defRPr/>
            </a:lvl4pPr>
            <a:lvl5pPr>
              <a:spcBef>
                <a:spcPts val="0"/>
              </a:spcBef>
              <a:spcAft>
                <a:spcPts val="1200"/>
              </a:spcAft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Picture Placeholder 28">
            <a:extLst>
              <a:ext uri="{FF2B5EF4-FFF2-40B4-BE49-F238E27FC236}">
                <a16:creationId xmlns:a16="http://schemas.microsoft.com/office/drawing/2014/main" id="{E335E712-C7FD-4BAC-B89C-58AF6594A4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00" y="723899"/>
            <a:ext cx="4876800" cy="53165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541CC69-A0B0-C1BE-2165-D8AD1B7D2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4574" y="723899"/>
            <a:ext cx="57867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147C2FA-8BD9-36BF-787A-3B3C4847BF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3753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9AE8321-5884-9E75-1272-926961F313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439" y="684311"/>
            <a:ext cx="4058728" cy="2749009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D527B4D-405A-DCD2-6970-1162843E0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14484" y="721031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B621246-77E4-43F0-CD40-C7DB9555D2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713726" y="6134059"/>
            <a:ext cx="57867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EB8AC8C-DEDA-D180-1CD8-B67B47276E3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57600" y="3662835"/>
            <a:ext cx="4064567" cy="2468396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/>
            </a:lvl1pPr>
            <a:lvl2pPr marL="457200" indent="0">
              <a:spcBef>
                <a:spcPts val="0"/>
              </a:spcBef>
              <a:buNone/>
              <a:defRPr/>
            </a:lvl2pPr>
            <a:lvl3pPr marL="914400" indent="0">
              <a:spcBef>
                <a:spcPts val="0"/>
              </a:spcBef>
              <a:buNone/>
              <a:defRPr/>
            </a:lvl3pPr>
            <a:lvl4pPr marL="1371600" indent="0">
              <a:spcBef>
                <a:spcPts val="0"/>
              </a:spcBef>
              <a:buNone/>
              <a:defRPr/>
            </a:lvl4pPr>
            <a:lvl5pPr marL="1828800" indent="0">
              <a:spcBef>
                <a:spcPts val="0"/>
              </a:spcBef>
              <a:buNone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675595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5977982-188C-72CC-B596-072779575D6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52275" y="6626860"/>
            <a:ext cx="719137" cy="1676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100">
                <a:solidFill>
                  <a:srgbClr val="FF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631801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21" r:id="rId13"/>
    <p:sldLayoutId id="2147483723" r:id="rId14"/>
    <p:sldLayoutId id="2147483724" r:id="rId15"/>
    <p:sldLayoutId id="2147483726" r:id="rId16"/>
    <p:sldLayoutId id="2147483730" r:id="rId17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672">
          <p15:clr>
            <a:srgbClr val="F26B43"/>
          </p15:clr>
        </p15:guide>
        <p15:guide id="4" orient="horz" pos="912">
          <p15:clr>
            <a:srgbClr val="F26B43"/>
          </p15:clr>
        </p15:guide>
        <p15:guide id="5" pos="7176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3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angchain.com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hyperlink" Target="https://docs.langchain.com/" TargetMode="External"/><Relationship Id="rId5" Type="http://schemas.openxmlformats.org/officeDocument/2006/relationships/hyperlink" Target="https://academy.langchain.com/" TargetMode="External"/><Relationship Id="rId4" Type="http://schemas.openxmlformats.org/officeDocument/2006/relationships/hyperlink" Target="https://github.com/langchain-ai/langchain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99D8326-B701-CBE8-39AA-6C700DA49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785668"/>
            <a:ext cx="4722962" cy="223424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Using </a:t>
            </a:r>
            <a:r>
              <a:rPr lang="en-US" dirty="0" err="1"/>
              <a:t>LangChain</a:t>
            </a:r>
            <a:r>
              <a:rPr lang="en-US" dirty="0"/>
              <a:t> and Gemma Models to develop faster AI agents on edge 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8" name="Picture Placeholder 13" descr="A close-up of a pine cone">
            <a:extLst>
              <a:ext uri="{FF2B5EF4-FFF2-40B4-BE49-F238E27FC236}">
                <a16:creationId xmlns:a16="http://schemas.microsoft.com/office/drawing/2014/main" id="{975CC0D6-B1DF-FCDA-F41E-56F7EFA2D49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t="2885" b="2885"/>
          <a:stretch/>
        </p:blipFill>
        <p:spPr/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318B1E7-0F84-08F3-E414-73DBF6B6B5B8}"/>
              </a:ext>
            </a:extLst>
          </p:cNvPr>
          <p:cNvSpPr txBox="1"/>
          <p:nvPr/>
        </p:nvSpPr>
        <p:spPr>
          <a:xfrm>
            <a:off x="1813703" y="3899140"/>
            <a:ext cx="2467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Supriya Sirbi, </a:t>
            </a:r>
            <a:r>
              <a:rPr lang="en-US" dirty="0" err="1"/>
              <a:t>Aptiv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288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2BF5439E-A994-3EE5-80B8-64D8C5A922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256" y="776873"/>
            <a:ext cx="5854182" cy="646485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D5FF0C52-0A5C-D2E2-6605-0DCC0E0DCE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3871" y="1147313"/>
            <a:ext cx="6604680" cy="4933814"/>
          </a:xfrm>
        </p:spPr>
        <p:txBody>
          <a:bodyPr>
            <a:noAutofit/>
          </a:bodyPr>
          <a:lstStyle/>
          <a:p>
            <a:br>
              <a:rPr lang="en-US" sz="2400" dirty="0"/>
            </a:br>
            <a:r>
              <a:rPr lang="en-US" sz="2400" dirty="0"/>
              <a:t>1. Introduction to </a:t>
            </a:r>
            <a:r>
              <a:rPr lang="en-US" sz="2400" dirty="0" err="1"/>
              <a:t>LangChain</a:t>
            </a:r>
            <a:br>
              <a:rPr lang="en-US" sz="2400" dirty="0"/>
            </a:br>
            <a:r>
              <a:rPr lang="en-US" sz="2400" dirty="0"/>
              <a:t>2. </a:t>
            </a:r>
            <a:r>
              <a:rPr lang="en-US" sz="2400" dirty="0" err="1"/>
              <a:t>LangChain</a:t>
            </a:r>
            <a:r>
              <a:rPr lang="en-US" sz="2400" dirty="0"/>
              <a:t>, LangGraph, </a:t>
            </a:r>
            <a:r>
              <a:rPr lang="en-US" sz="2400" dirty="0" err="1"/>
              <a:t>LangSmith</a:t>
            </a:r>
            <a:r>
              <a:rPr lang="en-US" sz="2400" dirty="0"/>
              <a:t> and Deep Agents</a:t>
            </a:r>
            <a:br>
              <a:rPr lang="en-US" sz="2400" dirty="0"/>
            </a:br>
            <a:r>
              <a:rPr lang="en-US" sz="2400" dirty="0"/>
              <a:t>3. </a:t>
            </a:r>
            <a:r>
              <a:rPr lang="en-US" sz="2400" dirty="0" err="1"/>
              <a:t>LangChain</a:t>
            </a:r>
            <a:r>
              <a:rPr lang="en-US" sz="2400" dirty="0"/>
              <a:t> Agent on Edge with Gemma </a:t>
            </a:r>
            <a:br>
              <a:rPr lang="en-US" sz="2400" dirty="0"/>
            </a:br>
            <a:r>
              <a:rPr lang="en-US" sz="2400" dirty="0"/>
              <a:t>4. Summary</a:t>
            </a:r>
          </a:p>
          <a:p>
            <a:r>
              <a:rPr lang="en-US" sz="2400" dirty="0"/>
              <a:t>5. Demo</a:t>
            </a:r>
            <a:br>
              <a:rPr lang="en-US" sz="2400" dirty="0"/>
            </a:br>
            <a:r>
              <a:rPr lang="en-US" sz="2400" dirty="0"/>
              <a:t>6. Resources</a:t>
            </a:r>
            <a:br>
              <a:rPr lang="en-US" sz="2400" dirty="0"/>
            </a:br>
            <a:endParaRPr lang="en-US" sz="2400" dirty="0"/>
          </a:p>
        </p:txBody>
      </p:sp>
      <p:pic>
        <p:nvPicPr>
          <p:cNvPr id="8" name="Picture Placeholder 12" descr="A dog sitting in the sun rays coming through the trees in a forest ">
            <a:extLst>
              <a:ext uri="{FF2B5EF4-FFF2-40B4-BE49-F238E27FC236}">
                <a16:creationId xmlns:a16="http://schemas.microsoft.com/office/drawing/2014/main" id="{D97472DC-8A80-1368-489B-875AC64FA5D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989" r="6989"/>
          <a:stretch/>
        </p:blipFill>
        <p:spPr/>
      </p:pic>
    </p:spTree>
    <p:extLst>
      <p:ext uri="{BB962C8B-B14F-4D97-AF65-F5344CB8AC3E}">
        <p14:creationId xmlns:p14="http://schemas.microsoft.com/office/powerpoint/2010/main" val="1889560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E82A33-7ED3-A4A3-7E06-B568D6D13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439" y="684312"/>
            <a:ext cx="4058728" cy="868444"/>
          </a:xfrm>
        </p:spPr>
        <p:txBody>
          <a:bodyPr/>
          <a:lstStyle/>
          <a:p>
            <a:r>
              <a:rPr lang="en-US" dirty="0" err="1"/>
              <a:t>LanGCHAIN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77958E-E73E-C5A9-C0E3-3DD9808453D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63439" y="1716657"/>
            <a:ext cx="4783346" cy="4304581"/>
          </a:xfrm>
        </p:spPr>
        <p:txBody>
          <a:bodyPr>
            <a:normAutofit/>
          </a:bodyPr>
          <a:lstStyle/>
          <a:p>
            <a:r>
              <a:rPr lang="en-US" dirty="0" err="1"/>
              <a:t>LangChain</a:t>
            </a:r>
            <a:r>
              <a:rPr lang="en-US" dirty="0"/>
              <a:t> is an open-source framework with a pre-built agent architecture and integrations for any model or tool — so you can build agents that adapt as fast as the ecosystem evolves</a:t>
            </a:r>
          </a:p>
          <a:p>
            <a:r>
              <a:rPr lang="en-US" b="1" noProof="1"/>
              <a:t>Advantages of LangChain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1"/>
              <a:t>Standard Model Interface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1"/>
              <a:t>Easy to use, Flexible Agent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1"/>
              <a:t>Built on Top of LangGraph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1"/>
              <a:t>Debug Support with LangSmith</a:t>
            </a:r>
          </a:p>
          <a:p>
            <a:endParaRPr lang="en-US" noProof="1"/>
          </a:p>
        </p:txBody>
      </p:sp>
      <p:pic>
        <p:nvPicPr>
          <p:cNvPr id="14" name="Picture Placeholder 33" descr="A river with boats in it surrounded by trees">
            <a:extLst>
              <a:ext uri="{FF2B5EF4-FFF2-40B4-BE49-F238E27FC236}">
                <a16:creationId xmlns:a16="http://schemas.microsoft.com/office/drawing/2014/main" id="{C87A0E87-E987-D779-B17A-3A89F2E6F37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8580" r="18580"/>
          <a:stretch/>
        </p:blipFill>
        <p:spPr/>
      </p:pic>
    </p:spTree>
    <p:extLst>
      <p:ext uri="{BB962C8B-B14F-4D97-AF65-F5344CB8AC3E}">
        <p14:creationId xmlns:p14="http://schemas.microsoft.com/office/powerpoint/2010/main" val="209861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9FE95-42FD-9AB0-913D-DFE3A18AF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591" y="976997"/>
            <a:ext cx="11034713" cy="1188227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LangChain</a:t>
            </a:r>
            <a:r>
              <a:rPr lang="en-US" b="1" dirty="0"/>
              <a:t> vs. LangGraph vs. Deep Agents VS. LANGSIMITH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DD9D89-0B97-5577-308E-9F320E5DC49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34593" y="1940943"/>
            <a:ext cx="10184419" cy="45374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LangChain</a:t>
            </a:r>
            <a:r>
              <a:rPr lang="en-US" b="1" dirty="0"/>
              <a:t> </a:t>
            </a:r>
            <a:r>
              <a:rPr lang="en-US" dirty="0"/>
              <a:t>- Simplest Way to Build Agents. If you don’t need these capabilities or would like to customize your own for your agents and autonomous applications, start with </a:t>
            </a:r>
            <a:r>
              <a:rPr lang="en-US" dirty="0" err="1"/>
              <a:t>LangChain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b="1" dirty="0"/>
              <a:t>LangGraph </a:t>
            </a:r>
            <a:r>
              <a:rPr lang="en-US" dirty="0"/>
              <a:t>- low-level agent orchestration framework and runtime, when you have more advanced needs that require a combination of deterministic and agentic workflows and heavy customization.</a:t>
            </a:r>
          </a:p>
          <a:p>
            <a:pPr marL="0" indent="0">
              <a:buNone/>
            </a:pPr>
            <a:r>
              <a:rPr lang="en-US" b="1" dirty="0"/>
              <a:t>Deep Agents </a:t>
            </a:r>
            <a:r>
              <a:rPr lang="en-US" dirty="0"/>
              <a:t>- comes with “batteries-included” and modern features like automatic compression of long conversations, a virtual filesystem, and subagent-spawning for managing and isolating context.</a:t>
            </a:r>
          </a:p>
          <a:p>
            <a:pPr marL="0" indent="0">
              <a:buNone/>
            </a:pPr>
            <a:r>
              <a:rPr lang="en-US" dirty="0"/>
              <a:t>Deep Agents are implementations of </a:t>
            </a:r>
            <a:r>
              <a:rPr lang="en-US" dirty="0" err="1"/>
              <a:t>LangChain</a:t>
            </a:r>
            <a:r>
              <a:rPr lang="en-US" dirty="0"/>
              <a:t> Agents</a:t>
            </a:r>
          </a:p>
          <a:p>
            <a:pPr marL="0" indent="0">
              <a:buNone/>
            </a:pPr>
            <a:r>
              <a:rPr lang="en-US" b="1" dirty="0" err="1"/>
              <a:t>LangSmith</a:t>
            </a:r>
            <a:r>
              <a:rPr lang="en-US" b="1" dirty="0"/>
              <a:t> </a:t>
            </a:r>
            <a:r>
              <a:rPr lang="en-US" dirty="0"/>
              <a:t>– An Observability Platform that gives you complete visibility into agent behavior.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Note: </a:t>
            </a:r>
            <a:r>
              <a:rPr lang="en-US" b="1" dirty="0" err="1"/>
              <a:t>LangChain</a:t>
            </a:r>
            <a:r>
              <a:rPr lang="en-US" b="1" dirty="0"/>
              <a:t> agents are built on top of LangGraph to provide durable execution, streaming, human-in-the-loop, persistence, and more.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noProof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BC99EE-15DF-A164-D7A5-05B6D09C80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198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78C3D1-0ACA-DD26-19EC-69D353E6E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5FF7505-6583-D213-573F-7C9D6DF30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8BD08D2-DE73-4452-6B3E-1277AEDB22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46E3F3CF-8843-56B2-1F9B-EBD0BA51A9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2AD8453-EF4F-DA82-57EF-3353DA7669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914400"/>
            <a:ext cx="10337723" cy="99203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 dirty="0" err="1"/>
              <a:t>LangChain</a:t>
            </a:r>
            <a:r>
              <a:rPr lang="en-US" sz="3300" dirty="0"/>
              <a:t> Agent on Edge with Gemma 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88C744F4-4883-D332-ED64-03EEB308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61D055-4FFA-C8AF-1885-AB0915A309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4088" y="1564617"/>
            <a:ext cx="3799763" cy="3767328"/>
          </a:xfrm>
        </p:spPr>
        <p:txBody>
          <a:bodyPr vert="horz" lIns="91440" tIns="45720" rIns="91440" bIns="45720" rtlCol="0">
            <a:noAutofit/>
          </a:bodyPr>
          <a:lstStyle/>
          <a:p>
            <a:pPr marL="0">
              <a:lnSpc>
                <a:spcPct val="100000"/>
              </a:lnSpc>
            </a:pPr>
            <a:endParaRPr 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This application implements an </a:t>
            </a:r>
            <a:r>
              <a:rPr lang="en-US" b="1" dirty="0"/>
              <a:t>AI-powered image understanding pipeline</a:t>
            </a:r>
            <a:r>
              <a:rPr lang="en-US" dirty="0"/>
              <a:t> that combines the </a:t>
            </a:r>
            <a:r>
              <a:rPr lang="en-US" b="1" dirty="0" err="1"/>
              <a:t>PaliGemma</a:t>
            </a:r>
            <a:r>
              <a:rPr lang="en-US" b="1" dirty="0"/>
              <a:t> vision-language model</a:t>
            </a:r>
            <a:r>
              <a:rPr lang="en-US" dirty="0"/>
              <a:t> with a </a:t>
            </a:r>
            <a:r>
              <a:rPr lang="en-US" b="1" dirty="0" err="1"/>
              <a:t>LangChain</a:t>
            </a:r>
            <a:r>
              <a:rPr lang="en-US" b="1" dirty="0"/>
              <a:t> agent framework</a:t>
            </a:r>
            <a:r>
              <a:rPr lang="en-US" dirty="0"/>
              <a:t> to generate meaningful descriptions from uploaded images. When a user uploads an image, the system uses </a:t>
            </a:r>
            <a:r>
              <a:rPr lang="en-US" b="1" dirty="0" err="1"/>
              <a:t>PaliGemma</a:t>
            </a:r>
            <a:r>
              <a:rPr lang="en-US" dirty="0"/>
              <a:t> to produce an image caption and then applies a </a:t>
            </a:r>
            <a:r>
              <a:rPr lang="en-US" b="1" dirty="0" err="1"/>
              <a:t>LangChain</a:t>
            </a:r>
            <a:r>
              <a:rPr lang="en-US" b="1" dirty="0"/>
              <a:t> Agent Framework</a:t>
            </a:r>
            <a:r>
              <a:rPr lang="en-US" dirty="0"/>
              <a:t> to generate a concise summary explaining the scene.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3297591D-9147-FF62-BAC9-3B4DE51A43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C3DB2ADC-AF19-4574-8C10-79B5B04FCA27}" type="slidenum">
              <a:rPr lang="en-US" sz="1800" smtClean="0"/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en-US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3AEEE2-5D7D-FE2D-905D-334609322015}"/>
              </a:ext>
            </a:extLst>
          </p:cNvPr>
          <p:cNvSpPr txBox="1"/>
          <p:nvPr/>
        </p:nvSpPr>
        <p:spPr>
          <a:xfrm>
            <a:off x="5160627" y="1638301"/>
            <a:ext cx="609456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User Upload Image on edge Device</a:t>
            </a:r>
          </a:p>
          <a:p>
            <a:r>
              <a:rPr lang="en-US" dirty="0"/>
              <a:t>        │</a:t>
            </a:r>
          </a:p>
          <a:p>
            <a:r>
              <a:rPr lang="en-US" dirty="0"/>
              <a:t>        ▼</a:t>
            </a:r>
          </a:p>
          <a:p>
            <a:r>
              <a:rPr lang="en-US" dirty="0"/>
              <a:t>Image Processing Layer</a:t>
            </a:r>
          </a:p>
          <a:p>
            <a:r>
              <a:rPr lang="en-US" dirty="0"/>
              <a:t>        │</a:t>
            </a:r>
          </a:p>
          <a:p>
            <a:r>
              <a:rPr lang="en-US" dirty="0"/>
              <a:t>        ▼</a:t>
            </a:r>
          </a:p>
          <a:p>
            <a:r>
              <a:rPr lang="en-US" dirty="0" err="1"/>
              <a:t>PaliGemma</a:t>
            </a:r>
            <a:r>
              <a:rPr lang="en-US" dirty="0"/>
              <a:t> Model</a:t>
            </a:r>
          </a:p>
          <a:p>
            <a:r>
              <a:rPr lang="en-US" dirty="0"/>
              <a:t>(Image Caption Generation)</a:t>
            </a:r>
          </a:p>
          <a:p>
            <a:r>
              <a:rPr lang="en-US" dirty="0"/>
              <a:t>        │</a:t>
            </a:r>
          </a:p>
          <a:p>
            <a:r>
              <a:rPr lang="en-US" dirty="0"/>
              <a:t>        ▼</a:t>
            </a:r>
          </a:p>
          <a:p>
            <a:r>
              <a:rPr lang="en-US" dirty="0" err="1"/>
              <a:t>LangChain</a:t>
            </a:r>
            <a:r>
              <a:rPr lang="en-US" dirty="0"/>
              <a:t> Agent with Tools</a:t>
            </a:r>
          </a:p>
          <a:p>
            <a:r>
              <a:rPr lang="en-US" dirty="0"/>
              <a:t>        │</a:t>
            </a:r>
          </a:p>
          <a:p>
            <a:r>
              <a:rPr lang="en-US" dirty="0"/>
              <a:t>        ▼</a:t>
            </a:r>
          </a:p>
          <a:p>
            <a:r>
              <a:rPr lang="en-US" dirty="0"/>
              <a:t>Gemma Reasoning Model</a:t>
            </a:r>
          </a:p>
          <a:p>
            <a:r>
              <a:rPr lang="en-US" dirty="0"/>
              <a:t>        │</a:t>
            </a:r>
          </a:p>
          <a:p>
            <a:r>
              <a:rPr lang="en-US" dirty="0"/>
              <a:t>        ▼</a:t>
            </a:r>
          </a:p>
          <a:p>
            <a:r>
              <a:rPr lang="en-US" dirty="0"/>
              <a:t>Structured Output</a:t>
            </a:r>
          </a:p>
          <a:p>
            <a:r>
              <a:rPr lang="en-US" dirty="0"/>
              <a:t>Caption + Scene Summary</a:t>
            </a:r>
          </a:p>
        </p:txBody>
      </p:sp>
    </p:spTree>
    <p:extLst>
      <p:ext uri="{BB962C8B-B14F-4D97-AF65-F5344CB8AC3E}">
        <p14:creationId xmlns:p14="http://schemas.microsoft.com/office/powerpoint/2010/main" val="2619074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039A-E253-EB11-7455-1932498DEB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9146" y="983901"/>
            <a:ext cx="10607336" cy="1030041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C24A2-07E3-294A-852A-DB1444A5B39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519" y="1699404"/>
            <a:ext cx="10615963" cy="219110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err="1"/>
              <a:t>LangChain</a:t>
            </a:r>
            <a:r>
              <a:rPr lang="en-US" b="1" dirty="0"/>
              <a:t> Agent that creates a below pipeline</a:t>
            </a:r>
            <a:endParaRPr lang="en-US" dirty="0"/>
          </a:p>
          <a:p>
            <a:r>
              <a:rPr lang="en-US" dirty="0"/>
              <a:t>Accepts an </a:t>
            </a:r>
            <a:r>
              <a:rPr lang="en-US" b="1" dirty="0"/>
              <a:t>image upload via </a:t>
            </a:r>
            <a:r>
              <a:rPr lang="en-US" b="1" dirty="0" err="1"/>
              <a:t>Gradio</a:t>
            </a:r>
            <a:endParaRPr lang="en-US" dirty="0"/>
          </a:p>
          <a:p>
            <a:r>
              <a:rPr lang="en-US" dirty="0"/>
              <a:t>Tool 1 – Uses </a:t>
            </a:r>
            <a:r>
              <a:rPr lang="en-US" b="1" dirty="0" err="1"/>
              <a:t>PaliGemma</a:t>
            </a:r>
            <a:r>
              <a:rPr lang="en-US" b="1" dirty="0"/>
              <a:t> model to generate caption</a:t>
            </a:r>
            <a:endParaRPr lang="en-US" dirty="0"/>
          </a:p>
          <a:p>
            <a:r>
              <a:rPr lang="en-US" dirty="0"/>
              <a:t>Tool 2 - Uses an </a:t>
            </a:r>
            <a:r>
              <a:rPr lang="en-US" b="1" dirty="0"/>
              <a:t>LLM chain to summarize / explain the caption with Gemma Model</a:t>
            </a:r>
            <a:endParaRPr lang="en-US" dirty="0"/>
          </a:p>
          <a:p>
            <a:r>
              <a:rPr lang="en-US" dirty="0"/>
              <a:t>Returns a </a:t>
            </a:r>
            <a:r>
              <a:rPr lang="en-US" b="1" dirty="0"/>
              <a:t>final structured summary</a:t>
            </a: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C45747-4D50-BA72-CE2C-30E8BBBFCC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71CF2D2E-172E-9896-4A48-59334E553A6C}"/>
              </a:ext>
            </a:extLst>
          </p:cNvPr>
          <p:cNvSpPr/>
          <p:nvPr/>
        </p:nvSpPr>
        <p:spPr>
          <a:xfrm>
            <a:off x="865517" y="3890509"/>
            <a:ext cx="3442652" cy="793256"/>
          </a:xfrm>
          <a:prstGeom prst="roundRect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/>
              <a:t>User Upload</a:t>
            </a:r>
          </a:p>
          <a:p>
            <a:pPr algn="ctr"/>
            <a:r>
              <a:rPr dirty="0"/>
              <a:t>Image</a:t>
            </a:r>
            <a:r>
              <a:rPr lang="en-US" dirty="0"/>
              <a:t> via </a:t>
            </a:r>
            <a:r>
              <a:rPr lang="en-US" dirty="0" err="1"/>
              <a:t>Gradio</a:t>
            </a:r>
            <a:endParaRPr dirty="0"/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31EAAF2E-CE97-7AAE-8CE2-4912C8C6A3BB}"/>
              </a:ext>
            </a:extLst>
          </p:cNvPr>
          <p:cNvSpPr/>
          <p:nvPr/>
        </p:nvSpPr>
        <p:spPr>
          <a:xfrm>
            <a:off x="4388108" y="3890508"/>
            <a:ext cx="3260784" cy="79325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 </a:t>
            </a:r>
            <a:r>
              <a:rPr dirty="0" err="1"/>
              <a:t>LangChain</a:t>
            </a:r>
            <a:endParaRPr dirty="0"/>
          </a:p>
          <a:p>
            <a:pPr algn="ctr"/>
            <a:r>
              <a:rPr dirty="0"/>
              <a:t>Agent</a:t>
            </a:r>
            <a:r>
              <a:rPr lang="en-US" dirty="0"/>
              <a:t> </a:t>
            </a:r>
            <a:r>
              <a:rPr lang="en-US" dirty="0" err="1"/>
              <a:t>Pipline</a:t>
            </a:r>
            <a:endParaRPr dirty="0"/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D7A11C07-6DCB-DEC5-320F-7E2410CC39D6}"/>
              </a:ext>
            </a:extLst>
          </p:cNvPr>
          <p:cNvSpPr/>
          <p:nvPr/>
        </p:nvSpPr>
        <p:spPr>
          <a:xfrm>
            <a:off x="7786912" y="3890507"/>
            <a:ext cx="3132100" cy="793258"/>
          </a:xfrm>
          <a:prstGeom prst="roundRect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 err="1"/>
              <a:t>PaliGemma</a:t>
            </a:r>
            <a:endParaRPr dirty="0"/>
          </a:p>
          <a:p>
            <a:pPr algn="ctr"/>
            <a:r>
              <a:rPr dirty="0"/>
              <a:t>Image Captioning</a:t>
            </a:r>
          </a:p>
        </p:txBody>
      </p: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87CA094B-FF48-6D91-6945-A3DC43A4CA51}"/>
              </a:ext>
            </a:extLst>
          </p:cNvPr>
          <p:cNvSpPr/>
          <p:nvPr/>
        </p:nvSpPr>
        <p:spPr>
          <a:xfrm>
            <a:off x="865517" y="4913067"/>
            <a:ext cx="3442652" cy="85800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/>
              <a:t>Gemma LLM</a:t>
            </a:r>
          </a:p>
          <a:p>
            <a:pPr algn="ctr"/>
            <a:r>
              <a:rPr dirty="0"/>
              <a:t>Summarization</a:t>
            </a:r>
          </a:p>
        </p:txBody>
      </p:sp>
      <p:sp>
        <p:nvSpPr>
          <p:cNvPr id="10" name="Rounded Rectangle 8">
            <a:extLst>
              <a:ext uri="{FF2B5EF4-FFF2-40B4-BE49-F238E27FC236}">
                <a16:creationId xmlns:a16="http://schemas.microsoft.com/office/drawing/2014/main" id="{9A1722F9-9EFC-FCA0-22F3-13251A60A7C8}"/>
              </a:ext>
            </a:extLst>
          </p:cNvPr>
          <p:cNvSpPr/>
          <p:nvPr/>
        </p:nvSpPr>
        <p:spPr>
          <a:xfrm>
            <a:off x="4388107" y="4884604"/>
            <a:ext cx="3362713" cy="886468"/>
          </a:xfrm>
          <a:prstGeom prst="roundRect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Gradio</a:t>
            </a:r>
            <a:r>
              <a:rPr lang="en-US" dirty="0"/>
              <a:t> Output - </a:t>
            </a:r>
            <a:r>
              <a:rPr dirty="0"/>
              <a:t>Caption +</a:t>
            </a:r>
          </a:p>
          <a:p>
            <a:pPr algn="ctr"/>
            <a:r>
              <a:rPr dirty="0"/>
              <a:t>Scene Summary</a:t>
            </a:r>
          </a:p>
        </p:txBody>
      </p:sp>
    </p:spTree>
    <p:extLst>
      <p:ext uri="{BB962C8B-B14F-4D97-AF65-F5344CB8AC3E}">
        <p14:creationId xmlns:p14="http://schemas.microsoft.com/office/powerpoint/2010/main" val="2582681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D7563-10BC-B063-2A73-BF583ED5E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264925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796C4E-41C8-0AB3-6886-FBB7C5696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438" y="684311"/>
            <a:ext cx="10632055" cy="678663"/>
          </a:xfrm>
        </p:spPr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1E39F92-B979-41AB-0918-CE4FADCA0D0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57600" y="1544128"/>
            <a:ext cx="8619313" cy="4587103"/>
          </a:xfrm>
        </p:spPr>
        <p:txBody>
          <a:bodyPr/>
          <a:lstStyle/>
          <a:p>
            <a:pPr marL="342900" indent="-342900">
              <a:buFontTx/>
              <a:buChar char="-"/>
            </a:pPr>
            <a:r>
              <a:rPr lang="en-US" dirty="0" err="1"/>
              <a:t>LangChain</a:t>
            </a:r>
            <a:r>
              <a:rPr lang="en-US" dirty="0"/>
              <a:t> Official Site - </a:t>
            </a:r>
            <a:r>
              <a:rPr lang="en-US" dirty="0">
                <a:hlinkClick r:id="rId3"/>
              </a:rPr>
              <a:t>https://www.langchain.com/</a:t>
            </a:r>
            <a:endParaRPr lang="en-US" dirty="0"/>
          </a:p>
          <a:p>
            <a:pPr marL="342900" indent="-342900">
              <a:buFontTx/>
              <a:buChar char="-"/>
            </a:pPr>
            <a:r>
              <a:rPr lang="en-US" dirty="0" err="1"/>
              <a:t>LangChain</a:t>
            </a:r>
            <a:r>
              <a:rPr lang="en-US" dirty="0"/>
              <a:t> </a:t>
            </a:r>
            <a:r>
              <a:rPr lang="en-US" dirty="0" err="1"/>
              <a:t>Github</a:t>
            </a:r>
            <a:r>
              <a:rPr lang="en-US" dirty="0"/>
              <a:t> Repo - </a:t>
            </a:r>
            <a:r>
              <a:rPr lang="en-US" dirty="0">
                <a:hlinkClick r:id="rId4"/>
              </a:rPr>
              <a:t>https://github.com/langchain-ai/langchain</a:t>
            </a:r>
            <a:endParaRPr lang="en-US" dirty="0"/>
          </a:p>
          <a:p>
            <a:pPr marL="342900" indent="-342900">
              <a:buFontTx/>
              <a:buChar char="-"/>
            </a:pPr>
            <a:r>
              <a:rPr lang="en-US" dirty="0" err="1"/>
              <a:t>LangChain</a:t>
            </a:r>
            <a:r>
              <a:rPr lang="en-US" dirty="0"/>
              <a:t> Academy - </a:t>
            </a:r>
            <a:r>
              <a:rPr lang="en-US" dirty="0">
                <a:hlinkClick r:id="rId5"/>
              </a:rPr>
              <a:t>https://academy.langchain.com/</a:t>
            </a:r>
            <a:endParaRPr lang="en-US" dirty="0"/>
          </a:p>
          <a:p>
            <a:pPr marL="342900" indent="-342900">
              <a:buFontTx/>
              <a:buChar char="-"/>
            </a:pPr>
            <a:r>
              <a:rPr lang="en-US" dirty="0" err="1"/>
              <a:t>LangChain</a:t>
            </a:r>
            <a:r>
              <a:rPr lang="en-US" dirty="0"/>
              <a:t> Docs - </a:t>
            </a:r>
            <a:r>
              <a:rPr lang="en-US" dirty="0">
                <a:hlinkClick r:id="rId6"/>
              </a:rPr>
              <a:t>https://docs.langchain.com/</a:t>
            </a:r>
            <a:endParaRPr lang="en-US" dirty="0"/>
          </a:p>
          <a:p>
            <a:endParaRPr lang="en-US" dirty="0"/>
          </a:p>
          <a:p>
            <a:pPr marL="342900" indent="-342900">
              <a:buFontTx/>
              <a:buChar char="-"/>
            </a:pPr>
            <a:endParaRPr lang="en-US" dirty="0"/>
          </a:p>
          <a:p>
            <a:pPr marL="342900" indent="-34290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896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377CB-8991-9E3E-C8AE-AB49B84A5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A2988B-10A2-DB28-0C5B-5CD8302DF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59B8E6E-77FD-47F4-7308-E62DA151392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382127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78B3239-FE1A-45AC-BACA-CC3412D875A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1C92F81-A6B6-4190-80A1-406B3B4C18B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7B916DD8-9028-41F0-AB19-FE384D2009A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{6B641387-FA17-4385-9A28-60146D54AC22}TFdebd256e-aaab-47ef-8933-ab65ac9ce059c506dcd1_win32-57e7001d6a70</Template>
  <TotalTime>0</TotalTime>
  <Words>499</Words>
  <Application>Microsoft Office PowerPoint</Application>
  <PresentationFormat>Widescreen</PresentationFormat>
  <Paragraphs>74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Calisto MT</vt:lpstr>
      <vt:lpstr>Univers Condensed</vt:lpstr>
      <vt:lpstr>ChronicleVTI</vt:lpstr>
      <vt:lpstr>Using LangChain and Gemma Models to develop faster AI agents on edge   </vt:lpstr>
      <vt:lpstr>AGENDA</vt:lpstr>
      <vt:lpstr>LanGCHAIN</vt:lpstr>
      <vt:lpstr>LangChain vs. LangGraph vs. Deep Agents VS. LANGSIMITH </vt:lpstr>
      <vt:lpstr>LangChain Agent on Edge with Gemma </vt:lpstr>
      <vt:lpstr>Summary</vt:lpstr>
      <vt:lpstr>DEMO</vt:lpstr>
      <vt:lpstr>RESOURCES</vt:lpstr>
      <vt:lpstr>Thank you</vt:lpstr>
    </vt:vector>
  </TitlesOfParts>
  <Company>APTIV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Sirbi, Supriya Kotrappa</dc:creator>
  <cp:lastModifiedBy>Sirbi, Supriya Kotrappa</cp:lastModifiedBy>
  <cp:revision>50</cp:revision>
  <dcterms:created xsi:type="dcterms:W3CDTF">2026-03-08T05:14:58Z</dcterms:created>
  <dcterms:modified xsi:type="dcterms:W3CDTF">2026-03-13T02:56:38Z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4e9f63dc-a549-49a5-8afd-042b11566dc2_Enabled">
    <vt:lpwstr>true</vt:lpwstr>
  </property>
  <property fmtid="{D5CDD505-2E9C-101B-9397-08002B2CF9AE}" pid="4" name="MSIP_Label_4e9f63dc-a549-49a5-8afd-042b11566dc2_SetDate">
    <vt:lpwstr>2026-03-08T05:24:03Z</vt:lpwstr>
  </property>
  <property fmtid="{D5CDD505-2E9C-101B-9397-08002B2CF9AE}" pid="5" name="MSIP_Label_4e9f63dc-a549-49a5-8afd-042b11566dc2_Method">
    <vt:lpwstr>Privileged</vt:lpwstr>
  </property>
  <property fmtid="{D5CDD505-2E9C-101B-9397-08002B2CF9AE}" pid="6" name="MSIP_Label_4e9f63dc-a549-49a5-8afd-042b11566dc2_Name">
    <vt:lpwstr>Confidential</vt:lpwstr>
  </property>
  <property fmtid="{D5CDD505-2E9C-101B-9397-08002B2CF9AE}" pid="7" name="MSIP_Label_4e9f63dc-a549-49a5-8afd-042b11566dc2_SiteId">
    <vt:lpwstr>6b1311e5-123f-49db-acdf-8847c2d00bed</vt:lpwstr>
  </property>
  <property fmtid="{D5CDD505-2E9C-101B-9397-08002B2CF9AE}" pid="8" name="MSIP_Label_4e9f63dc-a549-49a5-8afd-042b11566dc2_ActionId">
    <vt:lpwstr>14176cb9-9ef3-4036-8108-f1c85b72a98c</vt:lpwstr>
  </property>
  <property fmtid="{D5CDD505-2E9C-101B-9397-08002B2CF9AE}" pid="9" name="MSIP_Label_4e9f63dc-a549-49a5-8afd-042b11566dc2_ContentBits">
    <vt:lpwstr>2</vt:lpwstr>
  </property>
  <property fmtid="{D5CDD505-2E9C-101B-9397-08002B2CF9AE}" pid="10" name="MSIP_Label_4e9f63dc-a549-49a5-8afd-042b11566dc2_Tag">
    <vt:lpwstr>10, 0, 1, 1</vt:lpwstr>
  </property>
  <property fmtid="{D5CDD505-2E9C-101B-9397-08002B2CF9AE}" pid="11" name="ClassificationContentMarkingFooterLocations">
    <vt:lpwstr>ChronicleVTI:10</vt:lpwstr>
  </property>
  <property fmtid="{D5CDD505-2E9C-101B-9397-08002B2CF9AE}" pid="12" name="ClassificationContentMarkingFooterText">
    <vt:lpwstr>Confidential</vt:lpwstr>
  </property>
</Properties>
</file>